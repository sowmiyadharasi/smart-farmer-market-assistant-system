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x="18288000" cy="10287000"/>
  <p:notesSz cx="6858000" cy="9144000"/>
  <p:embeddedFontLst>
    <p:embeddedFont>
      <p:font typeface="Canva Sans Bold" charset="1" panose="020B0803030501040103"/>
      <p:regular r:id="rId16"/>
    </p:embeddedFont>
    <p:embeddedFont>
      <p:font typeface="Glacial Indifference Bold" charset="1" panose="00000800000000000000"/>
      <p:regular r:id="rId17"/>
    </p:embeddedFont>
    <p:embeddedFont>
      <p:font typeface="Canva Sans" charset="1" panose="020B0503030501040103"/>
      <p:regular r:id="rId1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2325885" y="4616282"/>
            <a:ext cx="4507978" cy="4690010"/>
          </a:xfrm>
          <a:custGeom>
            <a:avLst/>
            <a:gdLst/>
            <a:ahLst/>
            <a:cxnLst/>
            <a:rect r="r" b="b" t="t" l="l"/>
            <a:pathLst>
              <a:path h="4690010" w="4507978">
                <a:moveTo>
                  <a:pt x="0" y="0"/>
                </a:moveTo>
                <a:lnTo>
                  <a:pt x="4507978" y="0"/>
                </a:lnTo>
                <a:lnTo>
                  <a:pt x="4507978" y="4690010"/>
                </a:lnTo>
                <a:lnTo>
                  <a:pt x="0" y="469001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3199805" y="1336993"/>
            <a:ext cx="11888391" cy="21475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680"/>
              </a:lnSpc>
            </a:pPr>
            <a:r>
              <a:rPr lang="en-US" sz="6200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Smart Farmer Market Assistant</a:t>
            </a:r>
          </a:p>
          <a:p>
            <a:pPr algn="ctr">
              <a:lnSpc>
                <a:spcPts val="8680"/>
              </a:lnSpc>
            </a:pPr>
            <a:r>
              <a:rPr lang="en-US" sz="6200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System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3413284" y="3754588"/>
            <a:ext cx="11461433" cy="5378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80"/>
              </a:lnSpc>
            </a:pPr>
            <a:r>
              <a:rPr lang="en-US" sz="3200" b="true">
                <a:solidFill>
                  <a:srgbClr val="00000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A Hardware Solution for Price Transparency in Rural Markets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253788" y="6178232"/>
            <a:ext cx="11072098" cy="18935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780"/>
              </a:lnSpc>
            </a:pPr>
            <a:r>
              <a:rPr lang="en-US" sz="2700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PRESENTED BY :</a:t>
            </a:r>
          </a:p>
          <a:p>
            <a:pPr algn="just">
              <a:lnSpc>
                <a:spcPts val="3780"/>
              </a:lnSpc>
            </a:pPr>
            <a:r>
              <a:rPr lang="en-US" sz="27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SOWMIYADHARSI S (922523106206)</a:t>
            </a:r>
          </a:p>
          <a:p>
            <a:pPr algn="just">
              <a:lnSpc>
                <a:spcPts val="3780"/>
              </a:lnSpc>
            </a:pPr>
            <a:r>
              <a:rPr lang="en-US" sz="27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DEPT OF ELECTRONICS AND COMMUNICATION ENGINEERING</a:t>
            </a:r>
          </a:p>
          <a:p>
            <a:pPr algn="just">
              <a:lnSpc>
                <a:spcPts val="3780"/>
              </a:lnSpc>
            </a:pPr>
            <a:r>
              <a:rPr lang="en-US" sz="27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VSB ENGINEERING COLLEGE , KARUR .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7259300" y="921067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1043904" y="1301365"/>
            <a:ext cx="6215396" cy="7684269"/>
          </a:xfrm>
          <a:custGeom>
            <a:avLst/>
            <a:gdLst/>
            <a:ahLst/>
            <a:cxnLst/>
            <a:rect r="r" b="b" t="t" l="l"/>
            <a:pathLst>
              <a:path h="7684269" w="6215396">
                <a:moveTo>
                  <a:pt x="0" y="0"/>
                </a:moveTo>
                <a:lnTo>
                  <a:pt x="6215396" y="0"/>
                </a:lnTo>
                <a:lnTo>
                  <a:pt x="6215396" y="7684270"/>
                </a:lnTo>
                <a:lnTo>
                  <a:pt x="0" y="768427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602998" y="904875"/>
            <a:ext cx="5115044" cy="11112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100"/>
              </a:lnSpc>
            </a:pPr>
            <a:r>
              <a:rPr lang="en-US" sz="6500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Introduction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" y="2378710"/>
            <a:ext cx="9142810" cy="7181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Agriculture plays a major role in the rural economy.</a:t>
            </a:r>
          </a:p>
          <a:p>
            <a:pPr algn="just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However, many farmers face problems while selling their crops.</a:t>
            </a:r>
          </a:p>
          <a:p>
            <a:pPr algn="just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Key Issues:</a:t>
            </a:r>
          </a:p>
          <a:p>
            <a:pPr algn="just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Lack of real-time market price information</a:t>
            </a:r>
          </a:p>
          <a:p>
            <a:pPr algn="just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Dependence on middlemen</a:t>
            </a:r>
          </a:p>
          <a:p>
            <a:pPr algn="just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Low profit for farmers</a:t>
            </a:r>
          </a:p>
          <a:p>
            <a:pPr algn="just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Technology can help farmers make better selling decisions. </a:t>
            </a:r>
          </a:p>
          <a:p>
            <a:pPr algn="just">
              <a:lnSpc>
                <a:spcPts val="4759"/>
              </a:lnSpc>
            </a:pPr>
          </a:p>
        </p:txBody>
      </p:sp>
      <p:sp>
        <p:nvSpPr>
          <p:cNvPr name="TextBox 5" id="5"/>
          <p:cNvSpPr txBox="true"/>
          <p:nvPr/>
        </p:nvSpPr>
        <p:spPr>
          <a:xfrm rot="0">
            <a:off x="17259300" y="921067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1336988" y="1392703"/>
            <a:ext cx="5922312" cy="7501595"/>
          </a:xfrm>
          <a:custGeom>
            <a:avLst/>
            <a:gdLst/>
            <a:ahLst/>
            <a:cxnLst/>
            <a:rect r="r" b="b" t="t" l="l"/>
            <a:pathLst>
              <a:path h="7501595" w="5922312">
                <a:moveTo>
                  <a:pt x="0" y="0"/>
                </a:moveTo>
                <a:lnTo>
                  <a:pt x="5922312" y="0"/>
                </a:lnTo>
                <a:lnTo>
                  <a:pt x="5922312" y="7501594"/>
                </a:lnTo>
                <a:lnTo>
                  <a:pt x="0" y="750159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7259300" y="921067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3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757065" y="904875"/>
            <a:ext cx="7870150" cy="11112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100"/>
              </a:lnSpc>
            </a:pPr>
            <a:r>
              <a:rPr lang="en-US" sz="6500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Problem Statement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28700" y="2719705"/>
            <a:ext cx="8856345" cy="59810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Farmers often do not know the actual market price of their crops.</a:t>
            </a:r>
          </a:p>
          <a:p>
            <a:pPr algn="just">
              <a:lnSpc>
                <a:spcPts val="4759"/>
              </a:lnSpc>
            </a:pPr>
          </a:p>
          <a:p>
            <a:pPr algn="just">
              <a:lnSpc>
                <a:spcPts val="4759"/>
              </a:lnSpc>
            </a:pPr>
            <a:r>
              <a:rPr lang="en-US" sz="3399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Problems faced:</a:t>
            </a:r>
          </a:p>
          <a:p>
            <a:pPr algn="just">
              <a:lnSpc>
                <a:spcPts val="4759"/>
              </a:lnSpc>
            </a:pPr>
          </a:p>
          <a:p>
            <a:pPr algn="just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Price opacity in rural markets</a:t>
            </a:r>
          </a:p>
          <a:p>
            <a:pPr algn="just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Farmers lose up to 30% profit</a:t>
            </a:r>
          </a:p>
          <a:p>
            <a:pPr algn="just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No easy system to calculate crop value</a:t>
            </a:r>
          </a:p>
          <a:p>
            <a:pPr algn="just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Lack of market comparison</a:t>
            </a:r>
          </a:p>
          <a:p>
            <a:pPr algn="just">
              <a:lnSpc>
                <a:spcPts val="4759"/>
              </a:lnSpc>
            </a:pP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1937141" y="1522406"/>
            <a:ext cx="5322159" cy="7091998"/>
          </a:xfrm>
          <a:custGeom>
            <a:avLst/>
            <a:gdLst/>
            <a:ahLst/>
            <a:cxnLst/>
            <a:rect r="r" b="b" t="t" l="l"/>
            <a:pathLst>
              <a:path h="7091998" w="5322159">
                <a:moveTo>
                  <a:pt x="0" y="0"/>
                </a:moveTo>
                <a:lnTo>
                  <a:pt x="5322159" y="0"/>
                </a:lnTo>
                <a:lnTo>
                  <a:pt x="5322159" y="7091998"/>
                </a:lnTo>
                <a:lnTo>
                  <a:pt x="0" y="709199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7259300" y="921067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4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500426" y="904875"/>
            <a:ext cx="9572149" cy="11112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100"/>
              </a:lnSpc>
            </a:pPr>
            <a:r>
              <a:rPr lang="en-US" sz="6500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Objective of the Project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28700" y="2739707"/>
            <a:ext cx="9443918" cy="53809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759"/>
              </a:lnSpc>
            </a:pPr>
            <a:r>
              <a:rPr lang="en-US" sz="3399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The objective of this project is to develop a smart hardware device that:</a:t>
            </a:r>
          </a:p>
          <a:p>
            <a:pPr algn="just">
              <a:lnSpc>
                <a:spcPts val="4759"/>
              </a:lnSpc>
            </a:pPr>
          </a:p>
          <a:p>
            <a:pPr algn="just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Displays current crop market price</a:t>
            </a:r>
          </a:p>
          <a:p>
            <a:pPr algn="just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Measures crop weight automatically</a:t>
            </a:r>
          </a:p>
          <a:p>
            <a:pPr algn="just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Calculates total selling value</a:t>
            </a:r>
          </a:p>
          <a:p>
            <a:pPr algn="just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Receives price updates via SMS</a:t>
            </a:r>
          </a:p>
          <a:p>
            <a:pPr algn="just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Suggests the best market to sell crops</a:t>
            </a:r>
          </a:p>
          <a:p>
            <a:pPr algn="just">
              <a:lnSpc>
                <a:spcPts val="4759"/>
              </a:lnSpc>
            </a:pP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925494" y="1317364"/>
            <a:ext cx="6333806" cy="7652272"/>
          </a:xfrm>
          <a:custGeom>
            <a:avLst/>
            <a:gdLst/>
            <a:ahLst/>
            <a:cxnLst/>
            <a:rect r="r" b="b" t="t" l="l"/>
            <a:pathLst>
              <a:path h="7652272" w="6333806">
                <a:moveTo>
                  <a:pt x="0" y="0"/>
                </a:moveTo>
                <a:lnTo>
                  <a:pt x="6333806" y="0"/>
                </a:lnTo>
                <a:lnTo>
                  <a:pt x="6333806" y="7652272"/>
                </a:lnTo>
                <a:lnTo>
                  <a:pt x="0" y="765227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7259300" y="921067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5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530251" y="904875"/>
            <a:ext cx="7226498" cy="11112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100"/>
              </a:lnSpc>
            </a:pPr>
            <a:r>
              <a:rPr lang="en-US" sz="6500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Proposed System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28700" y="2515870"/>
            <a:ext cx="8993148" cy="7181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The proposed system is a Smart Farmer Market Assistant Device.</a:t>
            </a:r>
          </a:p>
          <a:p>
            <a:pPr algn="just">
              <a:lnSpc>
                <a:spcPts val="4759"/>
              </a:lnSpc>
            </a:pPr>
          </a:p>
          <a:p>
            <a:pPr algn="just">
              <a:lnSpc>
                <a:spcPts val="4759"/>
              </a:lnSpc>
            </a:pPr>
            <a:r>
              <a:rPr lang="en-US" sz="3399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The device helps farmers by:</a:t>
            </a:r>
          </a:p>
          <a:p>
            <a:pPr algn="just">
              <a:lnSpc>
                <a:spcPts val="4759"/>
              </a:lnSpc>
            </a:pPr>
          </a:p>
          <a:p>
            <a:pPr algn="just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Providing price transparency</a:t>
            </a:r>
          </a:p>
          <a:p>
            <a:pPr algn="just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Calculating crop value instantly</a:t>
            </a:r>
          </a:p>
          <a:p>
            <a:pPr algn="just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Suggesting profitable markets</a:t>
            </a:r>
          </a:p>
          <a:p>
            <a:pPr algn="just">
              <a:lnSpc>
                <a:spcPts val="4759"/>
              </a:lnSpc>
            </a:pPr>
          </a:p>
          <a:p>
            <a:pPr algn="just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This improves farmer income and decision making.</a:t>
            </a:r>
          </a:p>
          <a:p>
            <a:pPr algn="just">
              <a:lnSpc>
                <a:spcPts val="4759"/>
              </a:lnSpc>
            </a:pP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9246141" y="2806382"/>
            <a:ext cx="8013159" cy="5238603"/>
          </a:xfrm>
          <a:custGeom>
            <a:avLst/>
            <a:gdLst/>
            <a:ahLst/>
            <a:cxnLst/>
            <a:rect r="r" b="b" t="t" l="l"/>
            <a:pathLst>
              <a:path h="5238603" w="8013159">
                <a:moveTo>
                  <a:pt x="0" y="0"/>
                </a:moveTo>
                <a:lnTo>
                  <a:pt x="8013159" y="0"/>
                </a:lnTo>
                <a:lnTo>
                  <a:pt x="8013159" y="5238603"/>
                </a:lnTo>
                <a:lnTo>
                  <a:pt x="0" y="523860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7259300" y="921067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6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490127" y="914400"/>
            <a:ext cx="8266867" cy="1101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099"/>
              </a:lnSpc>
            </a:pPr>
            <a:r>
              <a:rPr lang="en-US" sz="6499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System Architecture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28700" y="2739707"/>
            <a:ext cx="8115300" cy="59810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759"/>
              </a:lnSpc>
            </a:pPr>
            <a:r>
              <a:rPr lang="en-US" sz="3399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Main Parts of the System:</a:t>
            </a:r>
          </a:p>
          <a:p>
            <a:pPr algn="just">
              <a:lnSpc>
                <a:spcPts val="4759"/>
              </a:lnSpc>
            </a:pPr>
          </a:p>
          <a:p>
            <a:pPr algn="just" marL="734059" indent="-367030" lvl="1">
              <a:lnSpc>
                <a:spcPts val="4759"/>
              </a:lnSpc>
              <a:buAutoNum type="arabicPeriod" startAt="1"/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Price Display Module</a:t>
            </a:r>
          </a:p>
          <a:p>
            <a:pPr algn="just" marL="734059" indent="-367030" lvl="1">
              <a:lnSpc>
                <a:spcPts val="4759"/>
              </a:lnSpc>
              <a:buAutoNum type="arabicPeriod" startAt="1"/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Smart Weighing Module</a:t>
            </a:r>
          </a:p>
          <a:p>
            <a:pPr algn="just" marL="734059" indent="-367030" lvl="1">
              <a:lnSpc>
                <a:spcPts val="4759"/>
              </a:lnSpc>
              <a:buAutoNum type="arabicPeriod" startAt="1"/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SMS Price Alert Module</a:t>
            </a:r>
          </a:p>
          <a:p>
            <a:pPr algn="just" marL="734059" indent="-367030" lvl="1">
              <a:lnSpc>
                <a:spcPts val="4759"/>
              </a:lnSpc>
              <a:buAutoNum type="arabicPeriod" startAt="1"/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Market Suggestion Module</a:t>
            </a:r>
          </a:p>
          <a:p>
            <a:pPr algn="just">
              <a:lnSpc>
                <a:spcPts val="4759"/>
              </a:lnSpc>
            </a:pPr>
          </a:p>
          <a:p>
            <a:pPr algn="just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All modules are controlled by Arduino microcontroller.</a:t>
            </a:r>
          </a:p>
          <a:p>
            <a:pPr algn="just">
              <a:lnSpc>
                <a:spcPts val="4759"/>
              </a:lnSpc>
            </a:pP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8168832" y="2526213"/>
            <a:ext cx="9215722" cy="5748307"/>
          </a:xfrm>
          <a:custGeom>
            <a:avLst/>
            <a:gdLst/>
            <a:ahLst/>
            <a:cxnLst/>
            <a:rect r="r" b="b" t="t" l="l"/>
            <a:pathLst>
              <a:path h="5748307" w="9215722">
                <a:moveTo>
                  <a:pt x="0" y="0"/>
                </a:moveTo>
                <a:lnTo>
                  <a:pt x="9215722" y="0"/>
                </a:lnTo>
                <a:lnTo>
                  <a:pt x="9215722" y="5748306"/>
                </a:lnTo>
                <a:lnTo>
                  <a:pt x="0" y="574830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7259300" y="921067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7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587996" y="914400"/>
            <a:ext cx="9305568" cy="1101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099"/>
              </a:lnSpc>
            </a:pPr>
            <a:r>
              <a:rPr lang="en-US" sz="6499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Hardware Components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28700" y="2677160"/>
            <a:ext cx="10673596" cy="7181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759"/>
              </a:lnSpc>
            </a:pPr>
            <a:r>
              <a:rPr lang="en-US" sz="3399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Main components used:</a:t>
            </a:r>
          </a:p>
          <a:p>
            <a:pPr algn="just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Arduino Uno</a:t>
            </a:r>
          </a:p>
          <a:p>
            <a:pPr algn="just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LCD Display</a:t>
            </a:r>
          </a:p>
          <a:p>
            <a:pPr algn="just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ESP8266 WiFi Module</a:t>
            </a:r>
          </a:p>
          <a:p>
            <a:pPr algn="just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GSM Module</a:t>
            </a:r>
          </a:p>
          <a:p>
            <a:pPr algn="just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Load Cell Sensor</a:t>
            </a:r>
          </a:p>
          <a:p>
            <a:pPr algn="just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HX711 Amplifier</a:t>
            </a:r>
          </a:p>
          <a:p>
            <a:pPr algn="just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Push Buttons</a:t>
            </a:r>
          </a:p>
          <a:p>
            <a:pPr algn="just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Power Supply</a:t>
            </a:r>
          </a:p>
          <a:p>
            <a:pPr algn="just">
              <a:lnSpc>
                <a:spcPts val="4759"/>
              </a:lnSpc>
            </a:pPr>
          </a:p>
          <a:p>
            <a:pPr algn="just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These components form the core hardware system.</a:t>
            </a:r>
          </a:p>
          <a:p>
            <a:pPr algn="just">
              <a:lnSpc>
                <a:spcPts val="4759"/>
              </a:lnSpc>
            </a:pP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7259300" y="921067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8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689140" y="904875"/>
            <a:ext cx="7091601" cy="1111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100"/>
              </a:lnSpc>
            </a:pPr>
            <a:r>
              <a:rPr lang="en-US" sz="6500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Working Principle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" y="2511107"/>
            <a:ext cx="9033391" cy="65811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Market price is received through WiFi or SMS.</a:t>
            </a:r>
          </a:p>
          <a:p>
            <a:pPr algn="just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The price is displayed on the LCD screen.</a:t>
            </a:r>
          </a:p>
          <a:p>
            <a:pPr algn="just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The farmer selects the crop using buttons.</a:t>
            </a:r>
          </a:p>
          <a:p>
            <a:pPr algn="just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Crop is placed on load cell sensor.</a:t>
            </a:r>
          </a:p>
          <a:p>
            <a:pPr algn="just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Arduino calculates weight × price.</a:t>
            </a:r>
          </a:p>
          <a:p>
            <a:pPr algn="just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System suggests the best market to sell.</a:t>
            </a:r>
          </a:p>
          <a:p>
            <a:pPr algn="just">
              <a:lnSpc>
                <a:spcPts val="4759"/>
              </a:lnSpc>
            </a:pP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7259300" y="921067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9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370112" y="923925"/>
            <a:ext cx="4163497" cy="9366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700"/>
              </a:lnSpc>
            </a:pPr>
            <a:r>
              <a:rPr lang="en-US" sz="5500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Advantages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" y="2063432"/>
            <a:ext cx="7716084" cy="28460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582933" indent="-291467" lvl="1">
              <a:lnSpc>
                <a:spcPts val="3780"/>
              </a:lnSpc>
              <a:buFont typeface="Arial"/>
              <a:buChar char="•"/>
            </a:pPr>
            <a:r>
              <a:rPr lang="en-US" sz="27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Helps farmers know accurate market prices</a:t>
            </a:r>
          </a:p>
          <a:p>
            <a:pPr algn="just" marL="582933" indent="-291467" lvl="1">
              <a:lnSpc>
                <a:spcPts val="3780"/>
              </a:lnSpc>
              <a:buFont typeface="Arial"/>
              <a:buChar char="•"/>
            </a:pPr>
            <a:r>
              <a:rPr lang="en-US" sz="27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Reduces dependency on middlemen</a:t>
            </a:r>
          </a:p>
          <a:p>
            <a:pPr algn="just" marL="582933" indent="-291467" lvl="1">
              <a:lnSpc>
                <a:spcPts val="3780"/>
              </a:lnSpc>
              <a:buFont typeface="Arial"/>
              <a:buChar char="•"/>
            </a:pPr>
            <a:r>
              <a:rPr lang="en-US" sz="27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Instant price calculation</a:t>
            </a:r>
          </a:p>
          <a:p>
            <a:pPr algn="just" marL="582933" indent="-291467" lvl="1">
              <a:lnSpc>
                <a:spcPts val="3780"/>
              </a:lnSpc>
              <a:buFont typeface="Arial"/>
              <a:buChar char="•"/>
            </a:pPr>
            <a:r>
              <a:rPr lang="en-US" sz="27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Low cost hardware solution</a:t>
            </a:r>
          </a:p>
          <a:p>
            <a:pPr algn="just" marL="582933" indent="-291467" lvl="1">
              <a:lnSpc>
                <a:spcPts val="3780"/>
              </a:lnSpc>
              <a:buFont typeface="Arial"/>
              <a:buChar char="•"/>
            </a:pPr>
            <a:r>
              <a:rPr lang="en-US" sz="27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Easy to use in rural areas</a:t>
            </a:r>
          </a:p>
          <a:p>
            <a:pPr algn="just">
              <a:lnSpc>
                <a:spcPts val="3780"/>
              </a:lnSpc>
            </a:pPr>
          </a:p>
        </p:txBody>
      </p:sp>
      <p:sp>
        <p:nvSpPr>
          <p:cNvPr name="TextBox 5" id="5"/>
          <p:cNvSpPr txBox="true"/>
          <p:nvPr/>
        </p:nvSpPr>
        <p:spPr>
          <a:xfrm rot="0">
            <a:off x="1527810" y="4632325"/>
            <a:ext cx="4305300" cy="927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699"/>
              </a:lnSpc>
            </a:pPr>
            <a:r>
              <a:rPr lang="en-US" sz="5499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Applications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28700" y="5935980"/>
            <a:ext cx="7270195" cy="33223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779"/>
              </a:lnSpc>
            </a:pPr>
            <a:r>
              <a:rPr lang="en-US" sz="27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This system can be used in:</a:t>
            </a:r>
          </a:p>
          <a:p>
            <a:pPr algn="just" marL="582930" indent="-291465" lvl="1">
              <a:lnSpc>
                <a:spcPts val="3779"/>
              </a:lnSpc>
              <a:buFont typeface="Arial"/>
              <a:buChar char="•"/>
            </a:pPr>
            <a:r>
              <a:rPr lang="en-US" sz="27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Rural farming villages</a:t>
            </a:r>
          </a:p>
          <a:p>
            <a:pPr algn="just" marL="582930" indent="-291465" lvl="1">
              <a:lnSpc>
                <a:spcPts val="3779"/>
              </a:lnSpc>
              <a:buFont typeface="Arial"/>
              <a:buChar char="•"/>
            </a:pPr>
            <a:r>
              <a:rPr lang="en-US" sz="27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Agricultural markets</a:t>
            </a:r>
          </a:p>
          <a:p>
            <a:pPr algn="just" marL="582930" indent="-291465" lvl="1">
              <a:lnSpc>
                <a:spcPts val="3779"/>
              </a:lnSpc>
              <a:buFont typeface="Arial"/>
              <a:buChar char="•"/>
            </a:pPr>
            <a:r>
              <a:rPr lang="en-US" sz="27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Farmer cooperatives</a:t>
            </a:r>
          </a:p>
          <a:p>
            <a:pPr algn="just" marL="582930" indent="-291465" lvl="1">
              <a:lnSpc>
                <a:spcPts val="3779"/>
              </a:lnSpc>
              <a:buFont typeface="Arial"/>
              <a:buChar char="•"/>
            </a:pPr>
            <a:r>
              <a:rPr lang="en-US" sz="27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Government agriculture support centers</a:t>
            </a:r>
          </a:p>
          <a:p>
            <a:pPr algn="just" marL="582930" indent="-291465" lvl="1">
              <a:lnSpc>
                <a:spcPts val="3779"/>
              </a:lnSpc>
              <a:buFont typeface="Arial"/>
              <a:buChar char="•"/>
            </a:pPr>
            <a:r>
              <a:rPr lang="en-US" sz="27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Smart farming projects</a:t>
            </a:r>
          </a:p>
          <a:p>
            <a:pPr algn="just">
              <a:lnSpc>
                <a:spcPts val="3779"/>
              </a:lnSpc>
            </a:pP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7259300" y="921067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10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575256" y="904875"/>
            <a:ext cx="4530447" cy="1111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100"/>
              </a:lnSpc>
            </a:pPr>
            <a:r>
              <a:rPr lang="en-US" sz="6500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Conclusion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" y="2282507"/>
            <a:ext cx="16385024" cy="60754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805"/>
              </a:lnSpc>
            </a:pPr>
            <a:r>
              <a:rPr lang="en-US" sz="3432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The Smart Farmer Market Assistant System helps farmers access accurate market prices and calculate crop value easily.</a:t>
            </a:r>
          </a:p>
          <a:p>
            <a:pPr algn="just">
              <a:lnSpc>
                <a:spcPts val="4805"/>
              </a:lnSpc>
            </a:pPr>
          </a:p>
          <a:p>
            <a:pPr algn="just">
              <a:lnSpc>
                <a:spcPts val="4805"/>
              </a:lnSpc>
            </a:pPr>
            <a:r>
              <a:rPr lang="en-US" sz="3432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This system:</a:t>
            </a:r>
          </a:p>
          <a:p>
            <a:pPr algn="just" marL="741043" indent="-370522" lvl="1">
              <a:lnSpc>
                <a:spcPts val="4805"/>
              </a:lnSpc>
              <a:buFont typeface="Arial"/>
              <a:buChar char="•"/>
            </a:pPr>
            <a:r>
              <a:rPr lang="en-US" sz="3432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Improves price transparency</a:t>
            </a:r>
          </a:p>
          <a:p>
            <a:pPr algn="just" marL="741043" indent="-370522" lvl="1">
              <a:lnSpc>
                <a:spcPts val="4805"/>
              </a:lnSpc>
              <a:buFont typeface="Arial"/>
              <a:buChar char="•"/>
            </a:pPr>
            <a:r>
              <a:rPr lang="en-US" sz="3432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Increases farmer profit</a:t>
            </a:r>
          </a:p>
          <a:p>
            <a:pPr algn="just" marL="741043" indent="-370522" lvl="1">
              <a:lnSpc>
                <a:spcPts val="4805"/>
              </a:lnSpc>
              <a:buFont typeface="Arial"/>
              <a:buChar char="•"/>
            </a:pPr>
            <a:r>
              <a:rPr lang="en-US" sz="3432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Reduces middlemen exploitation</a:t>
            </a:r>
          </a:p>
          <a:p>
            <a:pPr algn="just">
              <a:lnSpc>
                <a:spcPts val="4805"/>
              </a:lnSpc>
            </a:pPr>
          </a:p>
          <a:p>
            <a:pPr algn="just">
              <a:lnSpc>
                <a:spcPts val="4805"/>
              </a:lnSpc>
            </a:pPr>
            <a:r>
              <a:rPr lang="en-US" sz="3432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It is a low-cost and practical solution for rural farmers.</a:t>
            </a:r>
          </a:p>
          <a:p>
            <a:pPr algn="just">
              <a:lnSpc>
                <a:spcPts val="4805"/>
              </a:lnSpc>
            </a:p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DAHEqin5BMk</dc:identifier>
  <dcterms:modified xsi:type="dcterms:W3CDTF">2011-08-01T06:04:30Z</dcterms:modified>
  <cp:revision>1</cp:revision>
  <dc:title>Smart Farmer Market Assistant System</dc:title>
</cp:coreProperties>
</file>